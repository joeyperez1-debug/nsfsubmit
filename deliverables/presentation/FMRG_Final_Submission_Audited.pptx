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2ffb067e5745b1" /><Relationship Type="http://schemas.openxmlformats.org/officeDocument/2006/relationships/extended-properties" Target="/docProps/app.xml" Id="R363c4c9c76d741e6" /><Relationship Type="http://schemas.openxmlformats.org/officeDocument/2006/relationships/officeDocument" Target="/ppt/presentation.xml" Id="Rfb2e0e61e23b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aefe7c3d8f4e31"/>
  </p:sldMasterIdLst>
  <p:notesMasterIdLst>
    <p:notesMasterId xmlns:r="http://schemas.openxmlformats.org/officeDocument/2006/relationships" r:id="R2daeaec5699d4038"/>
  </p:notesMasterIdLst>
  <p:sldIdLst>
    <p:sldId xmlns:r="http://schemas.openxmlformats.org/officeDocument/2006/relationships" id="256" r:id="R3e212b8c2c2442c5"/>
    <p:sldId xmlns:r="http://schemas.openxmlformats.org/officeDocument/2006/relationships" id="257" r:id="R5b491bdc725443bf"/>
    <p:sldId xmlns:r="http://schemas.openxmlformats.org/officeDocument/2006/relationships" id="258" r:id="R5e55f3ea31264b3c"/>
    <p:sldId xmlns:r="http://schemas.openxmlformats.org/officeDocument/2006/relationships" id="259" r:id="Rf982cd6daf2d4857"/>
    <p:sldId xmlns:r="http://schemas.openxmlformats.org/officeDocument/2006/relationships" id="260" r:id="R1ca719f633da4bff"/>
    <p:sldId xmlns:r="http://schemas.openxmlformats.org/officeDocument/2006/relationships" id="261" r:id="R448c7d18d07c4f67"/>
    <p:sldId xmlns:r="http://schemas.openxmlformats.org/officeDocument/2006/relationships" id="262" r:id="Reaceccc462674caf"/>
    <p:sldId xmlns:r="http://schemas.openxmlformats.org/officeDocument/2006/relationships" id="263" r:id="R442fd858f561497f"/>
    <p:sldId xmlns:r="http://schemas.openxmlformats.org/officeDocument/2006/relationships" id="264" r:id="R8e63aad46c2248cb"/>
    <p:sldId xmlns:r="http://schemas.openxmlformats.org/officeDocument/2006/relationships" id="265" r:id="R93c326c4ca744e6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e1134c0f764e61" /><Relationship Type="http://schemas.openxmlformats.org/officeDocument/2006/relationships/slideMaster" Target="/ppt/slideMasters/slideMaster1.xml" Id="R48aefe7c3d8f4e31" /><Relationship Type="http://schemas.openxmlformats.org/officeDocument/2006/relationships/notesMaster" Target="/ppt/notesMasters/notesMaster1.xml" Id="R2daeaec5699d4038" /><Relationship Type="http://schemas.openxmlformats.org/officeDocument/2006/relationships/presProps" Target="/ppt/presProps.xml" Id="R06becbbb84e540c9" /><Relationship Type="http://schemas.openxmlformats.org/officeDocument/2006/relationships/viewProps" Target="/ppt/viewProps.xml" Id="R639fb176d0dd4e55" /><Relationship Type="http://schemas.openxmlformats.org/officeDocument/2006/relationships/tableStyles" Target="/ppt/tableStyles.xml" Id="Rcc05c635c0fd4d3d" /><Relationship Type="http://schemas.openxmlformats.org/officeDocument/2006/relationships/slide" Target="/ppt/slides/slide1.xml" Id="R3e212b8c2c2442c5" /><Relationship Type="http://schemas.openxmlformats.org/officeDocument/2006/relationships/slide" Target="/ppt/slides/slide2.xml" Id="R5b491bdc725443bf" /><Relationship Type="http://schemas.openxmlformats.org/officeDocument/2006/relationships/slide" Target="/ppt/slides/slide3.xml" Id="R5e55f3ea31264b3c" /><Relationship Type="http://schemas.openxmlformats.org/officeDocument/2006/relationships/slide" Target="/ppt/slides/slide4.xml" Id="Rf982cd6daf2d4857" /><Relationship Type="http://schemas.openxmlformats.org/officeDocument/2006/relationships/slide" Target="/ppt/slides/slide5.xml" Id="R1ca719f633da4bff" /><Relationship Type="http://schemas.openxmlformats.org/officeDocument/2006/relationships/slide" Target="/ppt/slides/slide6.xml" Id="R448c7d18d07c4f67" /><Relationship Type="http://schemas.openxmlformats.org/officeDocument/2006/relationships/slide" Target="/ppt/slides/slide7.xml" Id="Reaceccc462674caf" /><Relationship Type="http://schemas.openxmlformats.org/officeDocument/2006/relationships/slide" Target="/ppt/slides/slide8.xml" Id="R442fd858f561497f" /><Relationship Type="http://schemas.openxmlformats.org/officeDocument/2006/relationships/slide" Target="/ppt/slides/slide9.xml" Id="R8e63aad46c2248cb" /><Relationship Type="http://schemas.openxmlformats.org/officeDocument/2006/relationships/slide" Target="/ppt/slides/slide10.xml" Id="R93c326c4ca744e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03f3ceb2bd4c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94da467f54c48" /><Relationship Type="http://schemas.openxmlformats.org/officeDocument/2006/relationships/notesMaster" Target="/ppt/notesMasters/notesMaster1.xml" Id="R4dc6b142d4bf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093fb216fe4d78" /><Relationship Type="http://schemas.openxmlformats.org/officeDocument/2006/relationships/notesMaster" Target="/ppt/notesMasters/notesMaster1.xml" Id="R2f8e3a6c1a0746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a238d721194f4c" /><Relationship Type="http://schemas.openxmlformats.org/officeDocument/2006/relationships/notesMaster" Target="/ppt/notesMasters/notesMaster1.xml" Id="R3464d71f6d70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d6877f99a44110" /><Relationship Type="http://schemas.openxmlformats.org/officeDocument/2006/relationships/notesMaster" Target="/ppt/notesMasters/notesMaster1.xml" Id="Rc99bda51ec904e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b8f3fd2ec449b5" /><Relationship Type="http://schemas.openxmlformats.org/officeDocument/2006/relationships/notesMaster" Target="/ppt/notesMasters/notesMaster1.xml" Id="Rcb2854e6c3e1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70c57f4f8842ce" /><Relationship Type="http://schemas.openxmlformats.org/officeDocument/2006/relationships/notesMaster" Target="/ppt/notesMasters/notesMaster1.xml" Id="Rf3bbc622d0aa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48f1a60e654ef4" /><Relationship Type="http://schemas.openxmlformats.org/officeDocument/2006/relationships/notesMaster" Target="/ppt/notesMasters/notesMaster1.xml" Id="R709338af0da147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27d40639fb4ae2" /><Relationship Type="http://schemas.openxmlformats.org/officeDocument/2006/relationships/notesMaster" Target="/ppt/notesMasters/notesMaster1.xml" Id="Re3d5be1210f34b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bdaf35617d4428" /><Relationship Type="http://schemas.openxmlformats.org/officeDocument/2006/relationships/notesMaster" Target="/ppt/notesMasters/notesMaster1.xml" Id="Ree43d24bd90e45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fcb5c0904c4a1c" /><Relationship Type="http://schemas.openxmlformats.org/officeDocument/2006/relationships/notesMaster" Target="/ppt/notesMasters/notesMaster1.xml" Id="R3bc21537344545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model separates condition-level geometry from local variation and evaluates every track as untouched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framing: local geometry is a spatial signal; useful predictions must preserve width and boundary variation across power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all modalities are registered to physical x; the outer unit is the whole experimental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Pipeline: each outer track is excluded from feature, model, preprocessing, and calibration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Geometry: connected profilometry boundaries define positive local width; thermal frames advance 0.2 mm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Modeling: causal multiscale history predicts local residuals while track summaries predict condition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Result: four-track width MAE improves 13.1%, worst-track MAE 28.9%, and boundary MAE 17.6%.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Uncertainty: conditional intervals are narrower than global intervals and expand in difficult regions; SEM is not selected.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Limitations: R2 remains negative, only four tracks are available, and no causal substrate claim is 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Close: separating the condition shift from local variation is the main transferable modeling insight.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4dac2a1ec4d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a11a2edd04c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4888d631748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a790e20d941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7a0daa7ea4c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0dcc8980c472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785dea20c40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4bf88db584f6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90fd81d3f4c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0c2f57acb466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d3d9611794e3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2216CA-310C-4472-AA98-6C02EA0397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43C2962-2FB8-4D89-AD5B-6F21A67B83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96C506-098D-4BD9-9D57-914FCCDFBD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9C67C8-EAC1-4816-9B81-E037852E0F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2525B1-66E2-4743-92A5-C241D5AD23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2C4CF5-C64E-4EAB-A432-EEFF62687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24C8BF-E23A-4E0C-96A1-3F5B3E4998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849BC3-DD6F-497B-B18D-8559E0789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051D36-99AC-46D0-BF18-EF7681E692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E2B3E5-C3B4-47ED-B0C9-1799C78E1F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7884CA-9833-4786-8F6F-D5DDBD284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B83043-576B-4908-8E9E-DB7990F36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C9D905-408F-4DB5-A8BF-7F78DE431B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BE8A03-CB92-46E7-8EA9-85BC6AC1D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A17D2F-68DB-469F-92EA-23C042801C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979380-BA70-43CB-AF89-1D77C1E5D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A1F2F1-04FC-4E8C-9DB9-805EE79061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377F87-11D5-48B5-B133-48A79A21EE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4BA8B9-74CC-41FB-8CD9-5E6DA3A27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0794229-32FE-4FCC-90D1-0DAE4CDD71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3ECD40-6FA9-40DE-97E3-44A63CF83B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6EAB62-4957-45D8-86FB-7F0B70331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39507A-E39A-4791-89B9-CC14670FCA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655BE0-2049-4F27-875E-5C42AC4F944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8A7EB1F-A946-47B3-A108-E0611B3A44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2AB893B-7BBF-468A-880F-264ACFF084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7EAA385-B5CD-4BE0-B952-2671EBC946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9DB111B-919B-4476-9D16-1505D88C4E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ED828EE-37B6-43F8-9DCC-4C4B078F6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EFE9E8-E98C-4843-B0CC-16C0CC2D5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D694B78-5191-4B55-A20B-23DFE9FC6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CE23C30-7B63-4060-8450-2FDDDBB7BB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66699FD-D43C-4D7E-BC5A-D9F8FDC140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EF78B94-F915-42E6-8A3B-59F2D9CD51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0E40BA-AA1C-4C4A-8BC5-DAA9D36454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7A00A09-30C1-4E2F-9F94-212ABF6F3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154728-263B-4F92-B484-3DD99ACAD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4AC448-83DD-4BD5-A5FA-D322006264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068E99-B508-4445-96B3-C2E6B6C4C3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F66CFC-B916-4B1F-97B0-566434B261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802A3C-8F74-4EA2-897D-80747C3A6B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204EE36-276F-426C-BF34-4F0D338293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43E6EF-993B-42A1-9F92-898A923C1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41E11A-4B52-4BD3-8A34-A710A66971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8A46A9-D036-4A52-9EE2-E92FCC1C01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2CA176-09CD-45F7-9972-9E7F3442BF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245323-6553-4E05-930E-53D934E8D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DDE7F90-932B-4B14-A714-2F64D9F49D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271C8E-E9D7-4FAF-B5B2-D8FEF0D8D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DEF29D-4083-4D66-89C0-8530FCC5CF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54994A-354D-42EA-943C-5DA6E417CF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51C0F1-1530-460E-A4A5-F6D2F27E14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4C2EA4-4712-446F-B15D-A959F3800F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248FF74-F62C-4CD8-A012-C1E9B8012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5EC4D0-DC76-42B2-810D-F8BCB87522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1EE9F5-B6AD-47DF-9F1C-B1AD96CDB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0B3BC5-F1E1-4C97-85DF-C2F2374C66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1F4FF6-CACF-490A-9891-E87CF96744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b778b3a374bb3" /><Relationship Type="http://schemas.openxmlformats.org/officeDocument/2006/relationships/slideLayout" Target="/ppt/slideLayouts/slideLayout1.xml" Id="R5272c81493e143eb" /><Relationship Type="http://schemas.openxmlformats.org/officeDocument/2006/relationships/slideLayout" Target="/ppt/slideLayouts/slideLayout2.xml" Id="Rdad7bc45d6cd4555" /><Relationship Type="http://schemas.openxmlformats.org/officeDocument/2006/relationships/slideLayout" Target="/ppt/slideLayouts/slideLayout3.xml" Id="R2e243703596f487b" /><Relationship Type="http://schemas.openxmlformats.org/officeDocument/2006/relationships/slideLayout" Target="/ppt/slideLayouts/slideLayout4.xml" Id="R7de3477ad73d4159" /><Relationship Type="http://schemas.openxmlformats.org/officeDocument/2006/relationships/slideLayout" Target="/ppt/slideLayouts/slideLayout5.xml" Id="R79c59bbcdfc9414b" /><Relationship Type="http://schemas.openxmlformats.org/officeDocument/2006/relationships/slideLayout" Target="/ppt/slideLayouts/slideLayout6.xml" Id="R11703f3563984d56" /><Relationship Type="http://schemas.openxmlformats.org/officeDocument/2006/relationships/slideLayout" Target="/ppt/slideLayouts/slideLayout7.xml" Id="R9a3025d9af924562" /><Relationship Type="http://schemas.openxmlformats.org/officeDocument/2006/relationships/slideLayout" Target="/ppt/slideLayouts/slideLayout8.xml" Id="R0cbe584dede14f68" /><Relationship Type="http://schemas.openxmlformats.org/officeDocument/2006/relationships/slideLayout" Target="/ppt/slideLayouts/slideLayout9.xml" Id="R78e52e452e3d45bc" /><Relationship Type="http://schemas.openxmlformats.org/officeDocument/2006/relationships/slideLayout" Target="/ppt/slideLayouts/slideLayout10.xml" Id="Ra444d6a164e54b1e" /><Relationship Type="http://schemas.openxmlformats.org/officeDocument/2006/relationships/slideLayout" Target="/ppt/slideLayouts/slideLayout11.xml" Id="R466083f4376a469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05E6BB7-BA4C-432B-802B-127AB3168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4AE361-B118-46AC-BF83-129B68ACF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7E5CAA-FBF8-4BEE-837C-CEB532600EF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D70728-E617-4CBF-B692-7E36E57F8E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9F2AF5-0EFC-4C35-83A4-6B1C0807962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2c81493e143eb"/>
    <p:sldLayoutId xmlns:r="http://schemas.openxmlformats.org/officeDocument/2006/relationships" id="2147483650" r:id="Rdad7bc45d6cd4555"/>
    <p:sldLayoutId xmlns:r="http://schemas.openxmlformats.org/officeDocument/2006/relationships" id="2147483651" r:id="R2e243703596f487b"/>
    <p:sldLayoutId xmlns:r="http://schemas.openxmlformats.org/officeDocument/2006/relationships" id="2147483652" r:id="R7de3477ad73d4159"/>
    <p:sldLayoutId xmlns:r="http://schemas.openxmlformats.org/officeDocument/2006/relationships" id="2147483653" r:id="R79c59bbcdfc9414b"/>
    <p:sldLayoutId xmlns:r="http://schemas.openxmlformats.org/officeDocument/2006/relationships" id="2147483654" r:id="R11703f3563984d56"/>
    <p:sldLayoutId xmlns:r="http://schemas.openxmlformats.org/officeDocument/2006/relationships" id="2147483655" r:id="R9a3025d9af924562"/>
    <p:sldLayoutId xmlns:r="http://schemas.openxmlformats.org/officeDocument/2006/relationships" id="2147483656" r:id="R0cbe584dede14f68"/>
    <p:sldLayoutId xmlns:r="http://schemas.openxmlformats.org/officeDocument/2006/relationships" id="2147483657" r:id="R78e52e452e3d45bc"/>
    <p:sldLayoutId xmlns:r="http://schemas.openxmlformats.org/officeDocument/2006/relationships" id="2147483658" r:id="Ra444d6a164e54b1e"/>
    <p:sldLayoutId xmlns:r="http://schemas.openxmlformats.org/officeDocument/2006/relationships" id="2147483659" r:id="R466083f4376a469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07c03f575b4243" /><Relationship Type="http://schemas.openxmlformats.org/officeDocument/2006/relationships/notesSlide" Target="/ppt/notesSlides/notesSlide1.xml" Id="Rf9c2d2a334dc48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a18e79ca3243dd" /><Relationship Type="http://schemas.openxmlformats.org/officeDocument/2006/relationships/notesSlide" Target="/ppt/notesSlides/notesSlide2.xml" Id="R53be3d6675934d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5e7c3ffa2d4e11" /><Relationship Type="http://schemas.openxmlformats.org/officeDocument/2006/relationships/notesSlide" Target="/ppt/notesSlides/notesSlide3.xml" Id="R44d17cb99ba544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078257cde14a43" /><Relationship Type="http://schemas.openxmlformats.org/officeDocument/2006/relationships/notesSlide" Target="/ppt/notesSlides/notesSlide4.xml" Id="Rcd15acc998e2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a98764951b4d49" /><Relationship Type="http://schemas.openxmlformats.org/officeDocument/2006/relationships/notesSlide" Target="/ppt/notesSlides/notesSlide5.xml" Id="R6b13d73ba1b946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7e0d76222847d2" /><Relationship Type="http://schemas.openxmlformats.org/officeDocument/2006/relationships/notesSlide" Target="/ppt/notesSlides/notesSlide6.xml" Id="Reb6a60bd521440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6b275ed4824d33" /><Relationship Type="http://schemas.openxmlformats.org/officeDocument/2006/relationships/image" Target="/ppt/media/image.png" Id="R7436dbe109274010" /><Relationship Type="http://schemas.openxmlformats.org/officeDocument/2006/relationships/notesSlide" Target="/ppt/notesSlides/notesSlide7.xml" Id="R71ed7b28eb7144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6cb840a6a848e4" /><Relationship Type="http://schemas.openxmlformats.org/officeDocument/2006/relationships/image" Target="/ppt/media/image2.png" Id="Rc4f6e0b2f37f4a50" /><Relationship Type="http://schemas.openxmlformats.org/officeDocument/2006/relationships/notesSlide" Target="/ppt/notesSlides/notesSlide8.xml" Id="R6542f1da615e4c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32ae8399a64d13" /><Relationship Type="http://schemas.openxmlformats.org/officeDocument/2006/relationships/notesSlide" Target="/ppt/notesSlides/notesSlide9.xml" Id="R74391a82cd6941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0b5a797c5b431e" /><Relationship Type="http://schemas.openxmlformats.org/officeDocument/2006/relationships/notesSlide" Target="/ppt/notesSlides/notesSlide10.xml" Id="R7577e50e8ffa4e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A902CB-D5F0-46E0-A349-5A4A4CF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22F3B7-DF76-4CD6-A28E-D2EE1FAC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60120"/>
            <a:ext cx="10515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B746FD-EFEB-4859-BABB-42CDA70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2588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NSF FUTURE MANUFACTURING DATA CHALLENGE  |  FINAL SUBMISSION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3DCCB65-6986-43F2-8346-B984BF1F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1060704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Predicting local DED track width
from thermal history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538730B-AF2D-49BC-8131-349D817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9875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C9D6DE"/>
                </a:solidFill>
                <a:latin typeface="Arial"/>
                <a:ea typeface="Arial"/>
                <a:cs typeface="Arial"/>
              </a:rPr>
              <a:t>Hierarchical condition baselines, local residuals, and nested four-track evaluation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B7B86CE-2A03-4B2C-BFFC-8632F30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074920"/>
            <a:ext cx="104241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6D8F681-042C-41D3-ACD7-840750EA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85232"/>
            <a:ext cx="10424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Submission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July 31, 2026   |   Nested four-track outer validation</a:t>
            </a:r>
          </a:p>
        </p:txBody>
      </p:sp>
    </p:spTree>
    <p:extLst>
      <p:ext uri="{BB962C8B-B14F-4D97-AF65-F5344CB8AC3E}">
        <p14:creationId xmlns:p14="http://schemas.microsoft.com/office/powerpoint/2010/main" val="16862913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34DDEF-46D5-49C7-BAA0-8C7493D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04482B-9807-423C-BCDD-B23BAE7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6D64BD-6E5A-481D-B016-2C606992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Can thermal history predict local geometry after printing?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63536C8-3B43-4B61-AFB3-2569ED2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15DC11-93A2-4BBB-99E4-3E04FB9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63093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 DED track is not a uniform line: width and both boundaries vary along x.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Thermal frames record the moving melt pool; profilometry records final geometry.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The modeling task maps a frame and its causal history to the matching local segment.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 credible result must generalize across laser power and quantify uncertainty.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DC3A35-9143-4B2F-8515-7A1F063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83080"/>
            <a:ext cx="4343400" cy="4297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B7A279-9380-4F38-ADC9-416D4C1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83080"/>
            <a:ext cx="43434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624F66C-9E4A-4A23-B505-1BE4769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OUR TASK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E34149-888A-4604-8EBD-1DF8A25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450592"/>
            <a:ext cx="3749039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7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Predict local width and boundary position from thermal history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FAAE52-7834-440D-98A5-A8548CCC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794760"/>
            <a:ext cx="370332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511E22-8C34-4372-8753-233B4508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977639"/>
            <a:ext cx="3749039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Ground truth: center, width, and boundaries from profilometry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Inputs: thermal history; post-process SEM tested separately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Evaluation: four nested leave-one-track-out outer tests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98A5013-B554-4974-8913-2F12CE4F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B8A1C7-4B13-4B16-9E4A-41E8386F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D6C048-3932-4AE2-B502-7DA7A2E9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919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5FB9EB-0AA0-415B-9F80-3DB4889E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E383F9-7745-4701-9223-E77600D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DATA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8BC370-1424-4533-A103-71FEECD2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Three modalities, one physical x-axis, four untouched outer tests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F4CAC17-B442-4E21-B729-CAE783F1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84D2A2-BE30-48CE-AF69-D6B71CA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THERMAL VIDEO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9190B4-55AA-4627-AE47-18E66AE2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400 active frames per track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CE7B6C2-2656-47B0-A3CE-2B37AB1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3240938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400 active frames per track at 50 fps.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10 mm/s scan speed gives 0.2 mm per frame.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Size, temperature, gradients, and asymmetry.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Causal history lives in the TIME domain.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7CD8A26-3E48-4609-9107-F518184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SEM IMAGERY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00D46A-3FA1-40F4-9C70-61DEDB7F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Post-process SEM ablation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CE37D33-6E23-4342-AA7A-2B796896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880360"/>
            <a:ext cx="3240938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Available imagery is post-process.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processed center band is masked.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Flank texture is tested, not assumed causal.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Selected in zero outer folds.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DFFD67-422B-4B37-8CEA-38E82342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86" y="1783080"/>
            <a:ext cx="9144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8CBB9E4-A8E5-41C8-B843-378EACE7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3D PROFILOMETRY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743B91F-4C43-4489-AB50-011BCCD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Local width and boundaries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C3BEE6-6D34-4BCF-85EC-17E8CFE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880360"/>
            <a:ext cx="3240938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Robust cross-track substrate detrending.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Connected 30%-height boundary crossings.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0.40 mm physical smoothing window.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Missing acquisition gaps remain excluded.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EC9EA54-3604-4B33-AF70-35318E6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24" y="1783080"/>
            <a:ext cx="9144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E9B4BE2-C801-42EA-9D2D-18A037EE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38928"/>
            <a:ext cx="1109441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B1D7DF2-61A2-447F-8DE8-040138E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38928"/>
            <a:ext cx="457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78E391F-FBB4-4FE1-8916-02F26DF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30952"/>
            <a:ext cx="1060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Every track is untouched once; model, feature family, preprocessing, and calibration are selected only inside the other three tracks.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C89960-52D6-4FC7-B446-1AE6807D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B7267ED-3DC1-4CC2-82A6-CC1D4FFF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C698B4D-46CC-4F51-B0FB-23E801BA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84333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A048A1-8E3F-4B49-9F93-E9468C59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0982E1-A09D-4C61-BA56-B28B7039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OUR APPROACH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CBF8C-4861-4DBE-A46C-C7D02B64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From raw frames to leakage-safe nested predictions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AFCD9EB-EBE4-41FC-A376-6D4AAC4E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C951BE-2B8B-4CE2-811A-9C125B89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61100B7-C4E4-4E3D-B7B4-C505D5FA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45D2F21-8E2E-4A71-83FF-1649F855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C54598-FC79-4B31-90C9-AB58228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Detrend each cross-section and find connected left/right crossings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5F836C-3E58-4DB4-8BF9-337A42E6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D8DD30F-86ED-44AB-9425-AAD57E8F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CFC6A7C-C993-41E2-B59F-04D136E0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1647F28-B7FB-4C00-8181-726D688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Use physical x in mm; never normalized row position</a:t>
            </a:r>
          </a:p>
        </p:txBody>
      </p:sp>
      <p:sp>
        <p:nvSpPr>
          <p:cNvPr id="14" name="Chevron 13">
            <a:extLst xmlns:a="http://schemas.openxmlformats.org/drawingml/2006/main">
              <a:ext uri="{FF2B5EF4-FFF2-40B4-BE49-F238E27FC236}">
                <a16:creationId xmlns:a16="http://schemas.microsoft.com/office/drawing/2014/main" id="{2C319C29-898F-4A3E-A2C6-56217EF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195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032B8B-FB32-4735-B63A-FE18D7B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2DB0D4F-D914-4959-ADA9-9C665928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9E1DC9E-2F68-48E6-858C-1671F4CA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Decompose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18F5F75-DC13-44A4-A435-8F76A890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Separate condition baseline from local center/log-width residuals</a:t>
            </a:r>
          </a:p>
        </p:txBody>
      </p:sp>
      <p:sp>
        <p:nvSpPr>
          <p:cNvPr id="19" name="Chevron 18">
            <a:extLst xmlns:a="http://schemas.openxmlformats.org/drawingml/2006/main">
              <a:ext uri="{FF2B5EF4-FFF2-40B4-BE49-F238E27FC236}">
                <a16:creationId xmlns:a16="http://schemas.microsoft.com/office/drawing/2014/main" id="{F92207FF-5FFA-42D5-8884-91F4E87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9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B9C9C03-1108-456E-B389-5F414E0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BAA0064-BD2D-477A-AA23-29DA0F44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1562EA7-76C2-4946-AA3A-1903C62C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A6A2AFB-1B62-4655-9F82-CFA1F3BF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Hold out each track once; select candidates inside the other three</a:t>
            </a:r>
          </a:p>
        </p:txBody>
      </p:sp>
      <p:sp>
        <p:nvSpPr>
          <p:cNvPr id="24" name="Chevron 23">
            <a:extLst xmlns:a="http://schemas.openxmlformats.org/drawingml/2006/main">
              <a:ext uri="{FF2B5EF4-FFF2-40B4-BE49-F238E27FC236}">
                <a16:creationId xmlns:a16="http://schemas.microsoft.com/office/drawing/2014/main" id="{C463DBAA-3421-47E8-87DA-BB0635D9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03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DD6FE97-9B71-4819-A11B-6BC200BD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11094415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6055B01-07A3-451C-B95D-9E2EAC3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A57751A-9898-4FE0-9D5D-AAFA10A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29200"/>
            <a:ext cx="10607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</a:pPr>
            <a:r>
              <a:rPr sz="13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Audit rule: geometry, feature choice, model choice, and uncertainty calibration never see the current outer track. Generative AI assisted coding and layout; it did not alter measurements.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C4054FF-EB5A-4A84-89B2-0E8B94EC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9F290CD-DBD4-47CF-8D2C-82031992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4537C2B-10F9-4682-9C4F-1461DF2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4428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E5546-E613-41C0-A6A0-C824F20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8815CC-595D-4FF5-8059-F7E9AAB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METHOD — STEPS 1–2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0F99B34-52D9-4BFE-941A-9D87F965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Ground truth first: robust boundaries, then physical alignment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823DA40-9FD4-4619-9975-8B88B01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DACC504-CA7B-4906-93B8-49877F7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600851C-94D7-4995-9472-2C6A02F6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STEP 1 - LOCAL GEOMETRY EXTRACTION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9241ED-E856-48E4-BB51-5D64934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5044287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Measure one connected bead in every valid cross-section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E87CC8-7997-481A-A25F-21C96F01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5090007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Interpolate missing y pixels only within each cross-section.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Fit substrate slope outside the bead shoulders.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Locate connected 30%-of-peak crossings around the central maximum.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Smooth left and right boundaries over 0.40 mm.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5171490-CFC0-4C39-83BC-823C538E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7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F95574-39EB-494D-8698-190D644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STEP 2 - PHYSICAL TIME-SPACE ALIGNMENT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F0A1D5-3A87-4713-826E-A414DD9B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2340864"/>
            <a:ext cx="5044287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Match each thermal frame to measured x in millimeters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F888C88-82C7-4882-BD59-E0356973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3246120"/>
            <a:ext cx="5090007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Detect laser shutoff; retain the prior 400 active frames.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Extract hot components above a fixed 1500 K threshold.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Convert time to x at 10 mm/s and 50 fps.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Reject frames more than 0.10 mm from valid profilometry.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B3C1CC-748B-4251-B223-2246CF77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75" y="1783080"/>
            <a:ext cx="9144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A1CBCF-A451-45E4-9702-67E26A0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40060BC-6D99-4CD9-A69C-2CA5045B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3797F8-23B3-47A4-A0AA-BC60B7B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7522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30DA-A997-4CF4-93D0-41ED77F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2F3F44-9488-4169-9D7A-E784CDC2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METHOD — STEP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77D5DF-43B1-4162-A767-AB4C0CEA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Separate condition width from local variation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64A107B-F0C6-46A4-B0ED-F9A1ADAE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A504AB-4C02-49DE-AE5D-A94FACF4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A138DB-0CE2-458E-9954-9EEDB967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CAUSAL MULTISCALE HISTORY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121DB1-5E83-4722-BA0A-28168E8E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504428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Describe the pool now, then summarize how it arrived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6D8DBD-095C-43D7-AF9A-739873D4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91840"/>
            <a:ext cx="5090007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Pool axes, temperature, mass, gradients, and asymmetry.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Cooling-tail decay, centroid velocity, and shape change.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5-, 10-, and 20-frame slopes, persistence, and changes.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Robust local normalization isolates within-track departures.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FD0E4B-EB31-4614-8BD2-CEA2CDEC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7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55C9990-AC47-4EF9-8177-FB6E982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CONSTRAINED NESTED MODEL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B4D6728-8A4B-49A3-8EB2-614EA1AB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2340864"/>
            <a:ext cx="504428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Predict a track baseline, then local residuals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F8601DF-9A73-426C-B125-9FC4D5D8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3291840"/>
            <a:ext cx="5090007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Track summaries predict baseline center and log-width.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Local history jointly predicts center and log-width residuals.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exp(log-width) keeps width positive; boundaries stay ordered.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Nested folds choose Ridge, elastic net, PLS, spline, or GP.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86F9190-972D-4DBE-AB9A-4FA4F06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75" y="1783080"/>
            <a:ext cx="9144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944188A-CAAE-4E1A-930A-EA0E55B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3E32137-15FE-43C3-BE83-C9DB44AD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E435B46-6493-4D3B-89BF-46884F5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44548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6ABE87-FEF8-4ED7-B7B8-14262A6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21A93A-1214-44C8-A2FD-73D025B7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636C07-B210-4DCF-91A8-303A0FCD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Four-track MAE falls 13.1% while boundaries improve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1D62FE-E731-4021-B597-D41A64C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DEA742-AFCE-4E1A-8309-6660D0C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9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EXHIBIT 1 - FOUR UNTOUCHED OUTER TRACKS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92F3B25-BB68-4EA3-A2B5-C57A2C24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32" y="1874520"/>
            <a:ext cx="5244134" cy="4251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6dbe109274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38352" y="1920240"/>
            <a:ext cx="5152694" cy="416052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6F88E7-869E-4AD9-A86B-97A01E3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2468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3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163 µm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0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Track-balanced MAE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AA236D-7CCA-4EA7-8DA1-739E535B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828800"/>
            <a:ext cx="2194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30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13.1% lower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0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vs. direct Ridge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DDE5C09-2BAF-4E9A-902D-B9E39E1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74519"/>
            <a:ext cx="914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720045-4847-4485-AE8F-FE1DD03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3BD4768-4EF7-40B6-AA8E-D2E832B1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9377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Track-balanced width MAE: 0.187 → 0.163 mm.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Worst-track MAE: 0.308 → 0.219 mm.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Mean boundary MAE: 0.180 → 0.148 mm.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Residual correlation: 0.055 → 0.124.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CD18309-26E1-43D8-AA39-4559AC6D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575B08-A8EA-4523-9C09-60FAE92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C1A5B01-B17B-4B69-AC86-0734763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735221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49EE81-AB09-4B37-BC28-C09B3BB1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F111F7-5EDC-4EBE-B069-5CDB09F2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KEY INSIGHT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D938DD-453A-4D11-859A-7DFC321C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Local scaling recovers variation and sharpens uncertainty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3F1A556-FB9A-4CE4-9D7F-8669CED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3D0B0F-847C-48A5-BDEE-6958FEB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5943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9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EXHIBIT 2 - BEFORE / AFTER SCORECARD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E9828A-55EB-45AC-9474-DB43C76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9" y="1939355"/>
            <a:ext cx="6629400" cy="39851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6e0b2f37f4a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2919" y="1985075"/>
            <a:ext cx="6537960" cy="3893689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057D434-9C25-4F99-B229-9B1C176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114800" cy="402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768F7F1-B516-4799-8853-3E073F0E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1148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FB90E6-792A-46C6-B326-48A9A22D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2128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19E59E-3D47-4728-840F-B734F118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560320"/>
            <a:ext cx="35661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Condition baseline + local residual wins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945E9FD-9567-482D-878E-83862550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566160"/>
            <a:ext cx="35661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1. Predicted variation grows from 21% to 36% of measured scale.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2. Conditional intervals cover 91.4% at 0.738 mm mean width.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3. Global intervals cover 94.2% but are wider at 0.824 mm.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4. Width expands from 0.610 mm easy to 0.912 mm hard.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C93802D-25A2-4F9C-A499-391FA4C8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AA2B95D-5BDE-487F-AE88-75F7469F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AC1755-F419-49E2-9877-A5A7169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05616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B5C32C-3DFB-41AB-BFD9-2BB920F8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CF5E28-1FE4-43D5-8241-18F6183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HONEST ASSESSMENT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91A8BA8-A40E-44B6-878E-732C3F72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Improved, but not ready for closed-loop control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FE3AEE5-D655-45CE-9982-8A1063D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FC4F49-607C-4784-841F-14C1042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63093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Track-balanced R² is -0.34; local predictions still miss structure.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Four tracks cannot establish stability across plates or recipes.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Nested Track 21 MAE is 0.219 mm; the prior 0.139 mm is historical only.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Post-process SEM is selected in zero folds.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No causal substrate claim is supported.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7D66947-D480-4D33-A6B7-47AD3CB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28800"/>
            <a:ext cx="4343400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676B3AB-F1BA-4C3F-84C6-D971140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28800"/>
            <a:ext cx="43434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70DE262-26CA-4B34-9360-E7D5F2CB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121408"/>
            <a:ext cx="37490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WHAT WOULD CLOSE THE GAP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CF8A358-DDCC-4FA4-B051-4BEC82F5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14600"/>
            <a:ext cx="379476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Add more powers, plates, repeats, and substrate pre-scans.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Register SEM before processing instead of inferring substrate from post-scan tiles.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Calibrate intervals by laser-power regime or hierarchical conformal methods.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Predict a full contour distribution, not only center plus width.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D2F6C8-978C-4394-8308-21FBBEE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4A3F53E-2F1F-4A48-ACAC-03A301B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0EA90E7-DCD6-4A4F-B88C-50604860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26171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F2F213-6D77-428D-AFA7-66A7A605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8E9953-D653-4EA2-960F-1CC99524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7B2254-3AF0-41E6-B493-E750BCF3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Separate the condition, then learn the variation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2A4F66D-6519-49E1-A777-679481A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7C9B05-B073-4682-A64B-11AE64C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4214F2-9BFF-4033-9951-BE591D9B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4D4750D-6CE8-466B-B554-4C586FE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Four-track accuracy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A2AA94-7993-4789-B4D5-9B76596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Width MAE falls 13.1%; worst-track error falls 28.9%; boundary MAE falls 17.6%.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B5CC3F-A5CF-4B7A-A23A-CFCAB6B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ED5774-EFC8-4C72-8F67-16BC8176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EA16EF5-C3AC-4DAF-B81B-A8EE77D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Physical consistency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FD025F-2AC2-45F4-B81D-A7B7A90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Positive width and one shared center reconstruct ordered left/right boundaries.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B14212F-4FD9-420C-91A0-470DC53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86" y="1783080"/>
            <a:ext cx="9144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942278-BAB7-4E4F-88FD-C959BCCE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9FF48E6-3D1A-45E5-AB99-F41C7830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B4996ED-5ABA-43D9-A6C4-D460475D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Useful uncertainty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AF5FC5C-E008-408B-8BD7-53B5ACD2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Conditional intervals reach 91.4% coverage and expand in difficult regions.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1EA3EAE-24AB-41A4-8C10-42899BF3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24" y="1783080"/>
            <a:ext cx="9144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F69CA9-78B9-425C-95FB-431FD76A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11094415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685D924-8D55-443B-9AB9-6CA8298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29200"/>
            <a:ext cx="10241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Aft>
                <a:spcPts val="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“Condition shifts and local variation are different problems.”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0DFE6BD-0847-4043-B812-39DAC70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23560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00A9F4"/>
                </a:solidFill>
                <a:latin typeface="Arial"/>
                <a:ea typeface="Arial"/>
                <a:cs typeface="Arial"/>
              </a:rPr>
              <a:t>Questions?  |  github.com/alphons3t/nsf-chuds  |  github.com/joeyperez1-debug/nsfsubmit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01466E0-5691-4CA9-BFBB-5E8280A1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EF40976-30F6-4941-AC19-51BD3F32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2C70779-A568-456A-A38D-133A56E8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42943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2026-07-27T23:09:22.5280000Z</dcterms:created>
  <dcterms:modified xsi:type="dcterms:W3CDTF">2026-07-27T23:09:22.5280000Z</dcterms:modified>
</coreProperties>
</file>