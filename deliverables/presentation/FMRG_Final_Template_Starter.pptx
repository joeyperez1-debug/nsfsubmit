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8f7f2bbf64d6a" /><Relationship Type="http://schemas.openxmlformats.org/officeDocument/2006/relationships/extended-properties" Target="/docProps/app.xml" Id="R3d329d5bc84c4b76" /><Relationship Type="http://schemas.openxmlformats.org/officeDocument/2006/relationships/officeDocument" Target="/ppt/presentation.xml" Id="Rec0502d821c8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97f55e8b674432"/>
  </p:sldMasterIdLst>
  <p:notesMasterIdLst>
    <p:notesMasterId xmlns:r="http://schemas.openxmlformats.org/officeDocument/2006/relationships" r:id="R3bcc8e4b6cc344f5"/>
  </p:notesMasterIdLst>
  <p:sldIdLst>
    <p:sldId xmlns:r="http://schemas.openxmlformats.org/officeDocument/2006/relationships" id="256" r:id="R5fb067c6c135486e"/>
    <p:sldId xmlns:r="http://schemas.openxmlformats.org/officeDocument/2006/relationships" id="257" r:id="R0453f8da447c4789"/>
    <p:sldId xmlns:r="http://schemas.openxmlformats.org/officeDocument/2006/relationships" id="258" r:id="R167b7d5479a44dc3"/>
    <p:sldId xmlns:r="http://schemas.openxmlformats.org/officeDocument/2006/relationships" id="259" r:id="Re3214425dd494f86"/>
    <p:sldId xmlns:r="http://schemas.openxmlformats.org/officeDocument/2006/relationships" id="260" r:id="R435bbd6e6f68468c"/>
    <p:sldId xmlns:r="http://schemas.openxmlformats.org/officeDocument/2006/relationships" id="261" r:id="R6655a67b8fee42c9"/>
    <p:sldId xmlns:r="http://schemas.openxmlformats.org/officeDocument/2006/relationships" id="262" r:id="Rcd2ae44d039f4ab0"/>
    <p:sldId xmlns:r="http://schemas.openxmlformats.org/officeDocument/2006/relationships" id="263" r:id="Rfb887a206f674069"/>
    <p:sldId xmlns:r="http://schemas.openxmlformats.org/officeDocument/2006/relationships" id="264" r:id="Rec7bec7b7d6a4605"/>
    <p:sldId xmlns:r="http://schemas.openxmlformats.org/officeDocument/2006/relationships" id="265" r:id="R36201f560955472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ef1dd229aa477e" /><Relationship Type="http://schemas.openxmlformats.org/officeDocument/2006/relationships/slideMaster" Target="/ppt/slideMasters/slideMaster1.xml" Id="R2697f55e8b674432" /><Relationship Type="http://schemas.openxmlformats.org/officeDocument/2006/relationships/notesMaster" Target="/ppt/notesMasters/notesMaster1.xml" Id="R3bcc8e4b6cc344f5" /><Relationship Type="http://schemas.openxmlformats.org/officeDocument/2006/relationships/presProps" Target="/ppt/presProps.xml" Id="R0fe52cf851604dbf" /><Relationship Type="http://schemas.openxmlformats.org/officeDocument/2006/relationships/viewProps" Target="/ppt/viewProps.xml" Id="Re550574fc49f4e76" /><Relationship Type="http://schemas.openxmlformats.org/officeDocument/2006/relationships/tableStyles" Target="/ppt/tableStyles.xml" Id="R98f20311d62342f6" /><Relationship Type="http://schemas.openxmlformats.org/officeDocument/2006/relationships/slide" Target="/ppt/slides/slide1.xml" Id="R5fb067c6c135486e" /><Relationship Type="http://schemas.openxmlformats.org/officeDocument/2006/relationships/slide" Target="/ppt/slides/slide2.xml" Id="R0453f8da447c4789" /><Relationship Type="http://schemas.openxmlformats.org/officeDocument/2006/relationships/slide" Target="/ppt/slides/slide3.xml" Id="R167b7d5479a44dc3" /><Relationship Type="http://schemas.openxmlformats.org/officeDocument/2006/relationships/slide" Target="/ppt/slides/slide4.xml" Id="Re3214425dd494f86" /><Relationship Type="http://schemas.openxmlformats.org/officeDocument/2006/relationships/slide" Target="/ppt/slides/slide5.xml" Id="R435bbd6e6f68468c" /><Relationship Type="http://schemas.openxmlformats.org/officeDocument/2006/relationships/slide" Target="/ppt/slides/slide6.xml" Id="R6655a67b8fee42c9" /><Relationship Type="http://schemas.openxmlformats.org/officeDocument/2006/relationships/slide" Target="/ppt/slides/slide7.xml" Id="Rcd2ae44d039f4ab0" /><Relationship Type="http://schemas.openxmlformats.org/officeDocument/2006/relationships/slide" Target="/ppt/slides/slide8.xml" Id="Rfb887a206f674069" /><Relationship Type="http://schemas.openxmlformats.org/officeDocument/2006/relationships/slide" Target="/ppt/slides/slide9.xml" Id="Rec7bec7b7d6a4605" /><Relationship Type="http://schemas.openxmlformats.org/officeDocument/2006/relationships/slide" Target="/ppt/slides/slide10.xml" Id="R36201f56095547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03813c0c9144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815f254fc04ea5" /><Relationship Type="http://schemas.openxmlformats.org/officeDocument/2006/relationships/notesMaster" Target="/ppt/notesMasters/notesMaster1.xml" Id="R0478c403266b46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62ff9494e4544" /><Relationship Type="http://schemas.openxmlformats.org/officeDocument/2006/relationships/notesMaster" Target="/ppt/notesMasters/notesMaster1.xml" Id="Rbd6de2d0fa0547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ba80ae110d435b" /><Relationship Type="http://schemas.openxmlformats.org/officeDocument/2006/relationships/notesMaster" Target="/ppt/notesMasters/notesMaster1.xml" Id="R90a3a411132d46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a2c7d749f345fa" /><Relationship Type="http://schemas.openxmlformats.org/officeDocument/2006/relationships/notesMaster" Target="/ppt/notesMasters/notesMaster1.xml" Id="Rf2e4c74ae6dc4b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4ec05c849457d" /><Relationship Type="http://schemas.openxmlformats.org/officeDocument/2006/relationships/notesMaster" Target="/ppt/notesMasters/notesMaster1.xml" Id="R3074785dba11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d3378469dd44cf" /><Relationship Type="http://schemas.openxmlformats.org/officeDocument/2006/relationships/notesMaster" Target="/ppt/notesMasters/notesMaster1.xml" Id="Rf7b80c5317ca40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32bc8e6af14878" /><Relationship Type="http://schemas.openxmlformats.org/officeDocument/2006/relationships/notesMaster" Target="/ppt/notesMasters/notesMaster1.xml" Id="R3e646e4d2eba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7cac73a2304fee" /><Relationship Type="http://schemas.openxmlformats.org/officeDocument/2006/relationships/notesMaster" Target="/ppt/notesMasters/notesMaster1.xml" Id="R52455096e8704a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dee9ae47294fa1" /><Relationship Type="http://schemas.openxmlformats.org/officeDocument/2006/relationships/notesMaster" Target="/ppt/notesMasters/notesMaster1.xml" Id="R8c3fffc6d2e948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7b99d481ce477a" /><Relationship Type="http://schemas.openxmlformats.org/officeDocument/2006/relationships/notesMaster" Target="/ppt/notesMasters/notesMaster1.xml" Id="Reeed3269dba4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d79c55db44b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b8133aaa241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16bc7e4024d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5262a688a4e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fd29e5e1345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f7f30cabb40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de78eb2ba4b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c957e8dba41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5f69e58f34ac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5f6be23134a3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6b67158bc4a1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2216CA-310C-4472-AA98-6C02EA0397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43C2962-2FB8-4D89-AD5B-6F21A67B83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96C506-098D-4BD9-9D57-914FCCDFBD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9C67C8-EAC1-4816-9B81-E037852E0F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2525B1-66E2-4743-92A5-C241D5AD23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2C4CF5-C64E-4EAB-A432-EEFF62687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24C8BF-E23A-4E0C-96A1-3F5B3E4998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849BC3-DD6F-497B-B18D-8559E0789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051D36-99AC-46D0-BF18-EF7681E692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E2B3E5-C3B4-47ED-B0C9-1799C78E1F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7884CA-9833-4786-8F6F-D5DDBD284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B83043-576B-4908-8E9E-DB7990F36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C9D905-408F-4DB5-A8BF-7F78DE431B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BE8A03-CB92-46E7-8EA9-85BC6AC1D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A17D2F-68DB-469F-92EA-23C042801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979380-BA70-43CB-AF89-1D77C1E5D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A1F2F1-04FC-4E8C-9DB9-805EE79061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377F87-11D5-48B5-B133-48A79A21EE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4BA8B9-74CC-41FB-8CD9-5E6DA3A278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794229-32FE-4FCC-90D1-0DAE4CDD71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3ECD40-6FA9-40DE-97E3-44A63CF83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6EAB62-4957-45D8-86FB-7F0B70331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39507A-E39A-4791-89B9-CC14670FC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655BE0-2049-4F27-875E-5C42AC4F944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A7EB1F-A946-47B3-A108-E0611B3A44B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2AB893B-7BBF-468A-880F-264ACFF084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7EAA385-B5CD-4BE0-B952-2671EBC946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9DB111B-919B-4476-9D16-1505D88C4E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ED828EE-37B6-43F8-9DCC-4C4B078F6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EFE9E8-E98C-4843-B0CC-16C0CC2D5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D694B78-5191-4B55-A20B-23DFE9FC6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CE23C30-7B63-4060-8450-2FDDDBB7BB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66699FD-D43C-4D7E-BC5A-D9F8FDC140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EF78B94-F915-42E6-8A3B-59F2D9CD51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0E40BA-AA1C-4C4A-8BC5-DAA9D3645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7A00A09-30C1-4E2F-9F94-212ABF6F3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154728-263B-4F92-B484-3DD99ACAD0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4AC448-83DD-4BD5-A5FA-D322006264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068E99-B508-4445-96B3-C2E6B6C4C3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9F66CFC-B916-4B1F-97B0-566434B261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802A3C-8F74-4EA2-897D-80747C3A6B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204EE36-276F-426C-BF34-4F0D33829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43E6EF-993B-42A1-9F92-898A923C12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41E11A-4B52-4BD3-8A34-A710A66971E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8A46A9-D036-4A52-9EE2-E92FCC1C01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2CA176-09CD-45F7-9972-9E7F3442BF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245323-6553-4E05-930E-53D934E8D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DE7F90-932B-4B14-A714-2F64D9F49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271C8E-E9D7-4FAF-B5B2-D8FEF0D8D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EF29D-4083-4D66-89C0-8530FCC5CF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54994A-354D-42EA-943C-5DA6E417CF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51C0F1-1530-460E-A4A5-F6D2F27E14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4C2EA4-4712-446F-B15D-A959F3800F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248FF74-F62C-4CD8-A012-C1E9B8012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5EC4D0-DC76-42B2-810D-F8BCB87522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1EE9F5-B6AD-47DF-9F1C-B1AD96CDB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0B3BC5-F1E1-4C97-85DF-C2F2374C6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1F4FF6-CACF-490A-9891-E87CF9674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2de6154c646bd" /><Relationship Type="http://schemas.openxmlformats.org/officeDocument/2006/relationships/slideLayout" Target="/ppt/slideLayouts/slideLayout1.xml" Id="Ra4c6e704499e492d" /><Relationship Type="http://schemas.openxmlformats.org/officeDocument/2006/relationships/slideLayout" Target="/ppt/slideLayouts/slideLayout2.xml" Id="Refc1a8a65c1940c6" /><Relationship Type="http://schemas.openxmlformats.org/officeDocument/2006/relationships/slideLayout" Target="/ppt/slideLayouts/slideLayout3.xml" Id="R466cd2807a334bfa" /><Relationship Type="http://schemas.openxmlformats.org/officeDocument/2006/relationships/slideLayout" Target="/ppt/slideLayouts/slideLayout4.xml" Id="Re35a5d13d68d488c" /><Relationship Type="http://schemas.openxmlformats.org/officeDocument/2006/relationships/slideLayout" Target="/ppt/slideLayouts/slideLayout5.xml" Id="R383c7a0a7a8a406e" /><Relationship Type="http://schemas.openxmlformats.org/officeDocument/2006/relationships/slideLayout" Target="/ppt/slideLayouts/slideLayout6.xml" Id="Re916984e7f9a4485" /><Relationship Type="http://schemas.openxmlformats.org/officeDocument/2006/relationships/slideLayout" Target="/ppt/slideLayouts/slideLayout7.xml" Id="R59674971407f4620" /><Relationship Type="http://schemas.openxmlformats.org/officeDocument/2006/relationships/slideLayout" Target="/ppt/slideLayouts/slideLayout8.xml" Id="R82e43a42b0c14632" /><Relationship Type="http://schemas.openxmlformats.org/officeDocument/2006/relationships/slideLayout" Target="/ppt/slideLayouts/slideLayout9.xml" Id="R6e7783a212b54b4d" /><Relationship Type="http://schemas.openxmlformats.org/officeDocument/2006/relationships/slideLayout" Target="/ppt/slideLayouts/slideLayout10.xml" Id="Rc504a3ba94544ddc" /><Relationship Type="http://schemas.openxmlformats.org/officeDocument/2006/relationships/slideLayout" Target="/ppt/slideLayouts/slideLayout11.xml" Id="R72a08ec437fb4f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05E6BB7-BA4C-432B-802B-127AB3168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4AE361-B118-46AC-BF83-129B68ACF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E5CAA-FBF8-4BEE-837C-CEB532600EF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D70728-E617-4CBF-B692-7E36E57F8EF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9F2AF5-0EFC-4C35-83A4-6B1C0807962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6e704499e492d"/>
    <p:sldLayoutId xmlns:r="http://schemas.openxmlformats.org/officeDocument/2006/relationships" id="2147483650" r:id="Refc1a8a65c1940c6"/>
    <p:sldLayoutId xmlns:r="http://schemas.openxmlformats.org/officeDocument/2006/relationships" id="2147483651" r:id="R466cd2807a334bfa"/>
    <p:sldLayoutId xmlns:r="http://schemas.openxmlformats.org/officeDocument/2006/relationships" id="2147483652" r:id="Re35a5d13d68d488c"/>
    <p:sldLayoutId xmlns:r="http://schemas.openxmlformats.org/officeDocument/2006/relationships" id="2147483653" r:id="R383c7a0a7a8a406e"/>
    <p:sldLayoutId xmlns:r="http://schemas.openxmlformats.org/officeDocument/2006/relationships" id="2147483654" r:id="Re916984e7f9a4485"/>
    <p:sldLayoutId xmlns:r="http://schemas.openxmlformats.org/officeDocument/2006/relationships" id="2147483655" r:id="R59674971407f4620"/>
    <p:sldLayoutId xmlns:r="http://schemas.openxmlformats.org/officeDocument/2006/relationships" id="2147483656" r:id="R82e43a42b0c14632"/>
    <p:sldLayoutId xmlns:r="http://schemas.openxmlformats.org/officeDocument/2006/relationships" id="2147483657" r:id="R6e7783a212b54b4d"/>
    <p:sldLayoutId xmlns:r="http://schemas.openxmlformats.org/officeDocument/2006/relationships" id="2147483658" r:id="Rc504a3ba94544ddc"/>
    <p:sldLayoutId xmlns:r="http://schemas.openxmlformats.org/officeDocument/2006/relationships" id="2147483659" r:id="R72a08ec437fb4fc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33d0641d7648c8" /><Relationship Type="http://schemas.openxmlformats.org/officeDocument/2006/relationships/notesSlide" Target="/ppt/notesSlides/notesSlide1.xml" Id="Re8f842ea22de4d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2c04e0dd8c4cb3" /><Relationship Type="http://schemas.openxmlformats.org/officeDocument/2006/relationships/notesSlide" Target="/ppt/notesSlides/notesSlide2.xml" Id="Raa419a206aa9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b8620cfa4d423a" /><Relationship Type="http://schemas.openxmlformats.org/officeDocument/2006/relationships/notesSlide" Target="/ppt/notesSlides/notesSlide3.xml" Id="R55e397c29b6042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aebc398b024d30" /><Relationship Type="http://schemas.openxmlformats.org/officeDocument/2006/relationships/notesSlide" Target="/ppt/notesSlides/notesSlide4.xml" Id="Rfefb167dddb843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73767484f14e9b" /><Relationship Type="http://schemas.openxmlformats.org/officeDocument/2006/relationships/notesSlide" Target="/ppt/notesSlides/notesSlide5.xml" Id="Rf8be3bec946344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691dd9dfd841d0" /><Relationship Type="http://schemas.openxmlformats.org/officeDocument/2006/relationships/notesSlide" Target="/ppt/notesSlides/notesSlide6.xml" Id="Rb5641de0987c44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58896f8a6245a8" /><Relationship Type="http://schemas.openxmlformats.org/officeDocument/2006/relationships/image" Target="/ppt/media/image.png" Id="Rad45bf73c0d94fa3" /><Relationship Type="http://schemas.openxmlformats.org/officeDocument/2006/relationships/notesSlide" Target="/ppt/notesSlides/notesSlide7.xml" Id="R4542e43225294b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dab748a0ac47f9" /><Relationship Type="http://schemas.openxmlformats.org/officeDocument/2006/relationships/image" Target="/ppt/media/image2.png" Id="R00461adad29047fd" /><Relationship Type="http://schemas.openxmlformats.org/officeDocument/2006/relationships/notesSlide" Target="/ppt/notesSlides/notesSlide8.xml" Id="R09e9d59a6bca44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c499b7e5d94888" /><Relationship Type="http://schemas.openxmlformats.org/officeDocument/2006/relationships/notesSlide" Target="/ppt/notesSlides/notesSlide9.xml" Id="R1aedf929246047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57d5ac28914a90" /><Relationship Type="http://schemas.openxmlformats.org/officeDocument/2006/relationships/notesSlide" Target="/ppt/notesSlides/notesSlide10.xml" Id="Re92d59745fde42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A902CB-D5F0-46E0-A349-5A4A4CF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22F3B7-DF76-4CD6-A28E-D2EE1FAC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60120"/>
            <a:ext cx="105156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B746FD-EFEB-4859-BABB-42CDA70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NSF FUTURE MANUFACTURING DATA CHALLENGE  |  FINALIST PRESENTATION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DCCB65-6986-43F2-8346-B984BF1F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1060704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Predicting DED track geometry
via multi-modal sensor fusion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38730B-AF2D-49BC-8131-349D817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9875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C9D6DE"/>
                </a:solidFill>
                <a:latin typeface="Arial"/>
                <a:ea typeface="Arial"/>
                <a:cs typeface="Arial"/>
              </a:rPr>
              <a:t>Fusing in-situ thermal history with substrate surface awareness to predict local track height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B7B86CE-2A03-4B2C-BFFC-8632F30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074920"/>
            <a:ext cx="104241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65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D8F681-042C-41D3-ACD7-840750E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85232"/>
            <a:ext cx="10424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Submission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July 31, 2026   |   github.com/alphons3t/nsf-chuds</a:t>
            </a:r>
          </a:p>
        </p:txBody>
      </p:sp>
    </p:spTree>
    <p:extLst>
      <p:ext uri="{BB962C8B-B14F-4D97-AF65-F5344CB8AC3E}">
        <p14:creationId xmlns:p14="http://schemas.microsoft.com/office/powerpoint/2010/main" val="1686291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34DDEF-46D5-49C7-BAA0-8C7493D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04482B-9807-423C-BCDD-B23BAE7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6D64BD-6E5A-481D-B016-2C606992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Can we predict part geometry during printing?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3536C8-3B43-4B61-AFB3-2569ED2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15DC11-93A2-4BBB-99E4-3E04FB9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63093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Directed Energy Deposition (DED)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builds metal parts track by track — but final geometry varies along every track.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In-situ sensors watch the melt pool in real time; </a:t>
            </a:r>
            <a:r>
              <a:rPr sz="14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post-process metrology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reveals what was actually built — hours later.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The challenge: connect what the camera </a:t>
            </a:r>
            <a:r>
              <a:rPr sz="14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sees during printing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to the </a:t>
            </a:r>
            <a:r>
              <a:rPr sz="14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local geometric variation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measured after printing.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400"/>
              </a:spcAft>
              <a:buNone/>
            </a:pPr>
            <a:r>
              <a:rPr sz="14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If we can do this, we unlock </a:t>
            </a:r>
            <a:r>
              <a:rPr sz="14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real-time quality prediction and closed-loop control</a:t>
            </a:r>
            <a:r>
              <a:rPr sz="14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for metal additive manufacturing.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DC3A35-9143-4B2F-8515-7A1F063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343400" cy="4297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B7A279-9380-4F38-ADC9-416D4C1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3434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624F66C-9E4A-4A23-B505-1BE4769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OUR TASK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E34149-888A-4604-8EBD-1DF8A25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450592"/>
            <a:ext cx="3749039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Predict local track height along the laser path from in-situ monitoring data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FAAE52-7834-440D-98A5-A8548CC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794760"/>
            <a:ext cx="37033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511E22-8C34-4372-8753-233B450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977639"/>
            <a:ext cx="3749039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Ground truth: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 leveled 3D profilometer height maps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Inputs: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 thermal video + SEM substrate imagery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</a:pPr>
            <a:r>
              <a:rPr sz="12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Scope: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 4 tracks spanning different laser powers &amp; scan speeds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98A5013-B554-4974-8913-2F12CE4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B8A1C7-4B13-4B16-9E4A-41E8386F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4D6C048-3932-4AE2-B502-7DA7A2E9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919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5FB9EB-0AA0-415B-9F80-3DB4889E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E383F9-7745-4701-9223-E77600D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DATA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8BC370-1424-4533-A103-71FEECD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Three sensors, three languages: time, texture, and space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4CAC17-B442-4E21-B729-CAE783F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84D2A2-BE30-48CE-AF69-D6B71CA2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THERMAL VIDEO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39190B4-55AA-4627-AE47-18E66AE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In-situ melt pool dynamics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E7B6C2-2656-47B0-A3CE-2B37AB1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3240938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400 frames per track  ·  50 fps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14 µm/pixel  ·  5.6 × 5.6 mm field of view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Captures melt pool length, width, area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Lives in the TIME domain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7CD8A26-3E48-4609-9107-F518184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SEM IMAGERY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00D46A-3FA1-40F4-9C70-61DEDB7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Substrate surface morphology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CE37D33-6E23-4342-AA7A-2B796896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880360"/>
            <a:ext cx="3240938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Tiled .tif images along each track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Reveals gouges, texture &amp; roughness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Used only outside the track (no leakage)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Lives in the TEXTURE domain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DFFD67-422B-4B37-8CEA-38E82342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783080"/>
            <a:ext cx="914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CBB9E4-A8E5-41C8-B843-378EACE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1783080"/>
            <a:ext cx="333237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3D PROFILOMETRY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743B91F-4C43-4489-AB50-011BCCD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121408"/>
            <a:ext cx="3240938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0"/>
              </a:spcAft>
              <a:buNone/>
            </a:pPr>
            <a:r>
              <a:rPr sz="16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Post-process ground truth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C3BEE6-6D34-4BCF-85EC-17E8CFE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880360"/>
            <a:ext cx="3240938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Bruker/Wyko full-field height maps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x, y in mm  ·  z resolved to nanometers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Defines the true deposited track height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2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Lives in the SPACE domain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EC9EA54-3604-4B33-AF70-35318E6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24" y="1783080"/>
            <a:ext cx="914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E9B4BE2-C801-42EA-9D2D-18A037EE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1109441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B1D7DF2-61A2-447F-8DE8-040138E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38928"/>
            <a:ext cx="457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8E391F-FBB4-4FE1-8916-02F26DF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30952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3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The core difficulty:  </a:t>
            </a:r>
            <a:r>
              <a:rPr sz="13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these modalities share no common coordinate system — dynamic video frames must be fused with static spatial maps before any model can learn.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C89960-52D6-4FC7-B446-1AE6807D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B7267ED-3DC1-4CC2-82A6-CC1D4FFF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698B4D-46CC-4F51-B0FB-23E801BA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84333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A048A1-8E3F-4B49-9F93-E9468C59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0982E1-A09D-4C61-BA56-B28B7039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CBF8C-4861-4DBE-A46C-C7D02B64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From three raw sensors to one physical dataset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AFCD9EB-EBE4-41FC-A376-6D4AAC4E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C951BE-2B8B-4CE2-811A-9C125B8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61100B7-C4E4-4E3D-B7B4-C505D5FA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5D2F21-8E2E-4A71-83FF-1649F855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Level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C54598-FC79-4B31-90C9-AB58228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Fit &amp; subtract a 2D plane from the raw 3D scan to isolate true track height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5F836C-3E58-4DB4-8BF9-337A42E6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8DD30F-86ED-44AB-9425-AAD57E8F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FC6A7C-C993-41E2-B59F-04D136E0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647F28-B7FB-4C00-8181-726D688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963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Map 400 thermal frames onto the 20–100 mm spatial axis of the track</a:t>
            </a:r>
          </a:p>
        </p:txBody>
      </p:sp>
      <p:sp>
        <p:nvSpPr>
          <p:cNvPr id="14" name="Chevron 13">
            <a:extLst xmlns:a="http://schemas.openxmlformats.org/drawingml/2006/main">
              <a:ext uri="{FF2B5EF4-FFF2-40B4-BE49-F238E27FC236}">
                <a16:creationId xmlns:a16="http://schemas.microsoft.com/office/drawing/2014/main" id="{2C319C29-898F-4A3E-A2C6-56217EF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195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032B8B-FB32-4735-B63A-FE18D7B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2DB0D4F-D914-4959-ADA9-9C66592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9E1DC9E-2F68-48E6-858C-1671F4C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18F5F75-DC13-44A4-A435-8F76A89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567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Build thermal-history and substrate-awareness features at each location</a:t>
            </a:r>
          </a:p>
        </p:txBody>
      </p:sp>
      <p:sp>
        <p:nvSpPr>
          <p:cNvPr id="19" name="Chevron 18">
            <a:extLst xmlns:a="http://schemas.openxmlformats.org/drawingml/2006/main">
              <a:ext uri="{FF2B5EF4-FFF2-40B4-BE49-F238E27FC236}">
                <a16:creationId xmlns:a16="http://schemas.microsoft.com/office/drawing/2014/main" id="{F92207FF-5FFA-42D5-8884-91F4E87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9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B9C9C03-1108-456E-B389-5F414E0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1810512"/>
            <a:ext cx="914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4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BAA0064-BD2D-477A-AA23-29DA0F4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2606040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1562EA7-76C2-4946-AA3A-1903C62C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2743200"/>
            <a:ext cx="23164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6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A6A2AFB-1B62-4655-9F82-CFA1F3BF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171" y="3182112"/>
            <a:ext cx="2270683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Train a Random Forest on 4 tracks to predict local track height</a:t>
            </a:r>
          </a:p>
        </p:txBody>
      </p:sp>
      <p:sp>
        <p:nvSpPr>
          <p:cNvPr id="24" name="Chevron 23">
            <a:extLst xmlns:a="http://schemas.openxmlformats.org/drawingml/2006/main">
              <a:ext uri="{FF2B5EF4-FFF2-40B4-BE49-F238E27FC236}">
                <a16:creationId xmlns:a16="http://schemas.microsoft.com/office/drawing/2014/main" id="{C463DBAA-3421-47E8-87DA-BB0635D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03" y="2057400"/>
            <a:ext cx="237744" cy="310896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DD6FE97-9B71-4819-A11B-6BC200BD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11094415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6055B01-07A3-451C-B95D-9E2EAC3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A57751A-9898-4FE0-9D5D-AAFA10A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10607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</a:pPr>
            <a:r>
              <a:rPr sz="130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Why this matters: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every downstream feature is expressed in physical millimeter coordinates along the track — the model learns physics, not sensor artifacts.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</a:pPr>
            <a:r>
              <a:rPr sz="1050" b="0" i="1">
                <a:solidFill>
                  <a:srgbClr val="757575"/>
                </a:solidFill>
                <a:latin typeface="Arial"/>
                <a:ea typeface="Arial"/>
                <a:cs typeface="Arial"/>
              </a:rPr>
              <a:t>Generative AI (LLM) was used transparently as a collaborative coding tool: designing the leveling math, debugging dataframe alignment, and refining visualizations.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C4054FF-EB5A-4A84-89B2-0E8B94EC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9F290CD-DBD4-47CF-8D2C-8203199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4537C2B-10F9-4682-9C4F-1461DF2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4428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4E5546-E613-41C0-A6A0-C824F203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8815CC-595D-4FF5-8059-F7E9AABD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METHOD — STEPS 1–2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0F99B34-52D9-4BFE-941A-9D87F96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Building a common coordinate system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823DA40-9FD4-4619-9975-8B88B01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ACC504-CA7B-4906-93B8-49877F7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600851C-94D7-4995-9472-2C6A02F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STEP 1 — MATHEMATICAL 3D LEVELING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9241ED-E856-48E4-BB51-5D64934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5044287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Recover the true track from a tilted, warped substrate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8E87CC8-7997-481A-A25F-21C96F01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Raw profilometer scans carry significant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planar tilt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We isolate the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bare substrate edges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(non-track regions) and fit a 2D plane via linear regression.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Subtracting the fitted plane levels the substrate to ≈ 0, exposing the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true deposited height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— our ground truth.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171490-CFC0-4C39-83BC-823C538E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7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F95574-39EB-494D-8698-190D644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STEP 2 — SPATIAL–TEMPORAL ALIGNMENT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F0A1D5-3A87-4713-826E-A414DD9B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2340864"/>
            <a:ext cx="5044287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Fuse video time with physical space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888C88-82C7-4882-BD59-E0356973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324612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Melt pool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length, width &amp; area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extracted from each thermal frame by intensity thresholding (value = 2000).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Constant scan speed (10 mm/s @ 50 fps) → each frame advances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0.2 mm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along the track.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Linear interpolation maps all 400 frames onto the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20–100 mm coordinates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of the leveled height profile.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B3C1CC-748B-4251-B223-2246CF77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5" y="1783080"/>
            <a:ext cx="9144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A1CBCF-A451-45E4-9702-67E26A0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40060BC-6D99-4CD9-A69C-2CA5045B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3797F8-23B3-47A4-A0AA-BC60B7B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7522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30DA-A997-4CF4-93D0-41ED77F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2F3F44-9488-4169-9D7A-E784CDC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METHOD — STEP 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77D5DF-43B1-4162-A767-AB4C0CE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Feature engineering: physical memory and context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64A107B-F0C6-46A4-B0ED-F9A1ADAE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A504AB-4C02-49DE-AE5D-A94FACF4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A138DB-0CE2-458E-9954-9EEDB967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THERMAL HISTORY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121DB1-5E83-4722-BA0A-28168E8E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504428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DED is a continuous thermal process — not independent frames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B6D8DBD-095C-43D7-AF9A-739873D4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9184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Rolling averages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of melt pool dimensions over 5- and 10-frame windows.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These act as a proxy for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heat accumulation and cooling rate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at each point along the path.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Captures the longitudinal variation a single frame cannot see.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D0E4B-EB31-4614-8BD2-CEA2CDE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7" y="1783080"/>
            <a:ext cx="5318607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55C9990-AC47-4EF9-8177-FB6E982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1993392"/>
            <a:ext cx="531860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SUBSTRATE AWARENESS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B4D6728-8A4B-49A3-8EB2-614EA1A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2340864"/>
            <a:ext cx="5044287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The surface the laser lands on shapes what it builds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F8601DF-9A73-426C-B125-9FC4D5D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7" y="3291840"/>
            <a:ext cx="5090007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Localized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SEM intensity and SEM roughness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matrices extracted from masked SEM imagery.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Quantifies the </a:t>
            </a:r>
            <a:r>
              <a:rPr sz="13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topographical foundation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prior to deposition — gouges, texture, reflectivity.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100"/>
              </a:spcAft>
              <a:buNone/>
            </a:pPr>
            <a:r>
              <a:rPr sz="13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3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Track region masked out to strictly avoid output leakage.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86F9190-972D-4DBE-AB9A-4FA4F06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75" y="1783080"/>
            <a:ext cx="9144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944188A-CAAE-4E1A-930A-EA0E55B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3E32137-15FE-43C3-BE83-C9DB44A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E435B46-6493-4D3B-89BF-46884F5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44548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6ABE87-FEF8-4ED7-B7B8-14262A6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21A93A-1214-44C8-A2FD-73D025B7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636C07-B210-4DCF-91A8-303A0FC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The model tracks real variation across four recipes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1D62FE-E731-4021-B597-D41A64C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DEA742-AFCE-4E1A-8309-6660D0C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9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EXHIBIT 1 — ACTUAL VS PREDICTED TRACK HEIGHT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92F3B25-BB68-4EA3-A2B5-C57A2C24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32" y="1874520"/>
            <a:ext cx="5244134" cy="4251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5bf73c0d94f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8352" y="1920240"/>
            <a:ext cx="5152694" cy="4160520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6F88E7-869E-4AD9-A86B-97A01E3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2468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30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21.18 µm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0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Mean Absolute Error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AA236D-7CCA-4EA7-8DA1-739E535B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828800"/>
            <a:ext cx="2194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30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0.41</a:t>
            </a:r>
            <a:r>
              <a:rPr sz="14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  R²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sz="10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held-out test data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DE5C09-2BAF-4E9A-902D-B9E39E1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74519"/>
            <a:ext cx="914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720045-4847-4485-AE8F-FE1DD03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71800"/>
            <a:ext cx="493776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BD4768-4EF7-40B6-AA8E-D2E832B1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9377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2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Random Forest Regressor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— 150 estimators, max depth 12, 80/20 train–test split.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Trained jointly on </a:t>
            </a:r>
            <a:r>
              <a:rPr sz="12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Tracks 8, 10, 14 &amp; 21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to generalize across laser powers and scan speeds.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Captures longitudinal variation via thermal rolling averages and constrains boundaries via melt pool width.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Validated directly against </a:t>
            </a:r>
            <a:r>
              <a:rPr sz="125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leveled profilometer ground truth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in physical µm.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CD18309-26E1-43D8-AA39-4559AC6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575B08-A8EA-4523-9C09-60FAE92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C1A5B01-B17B-4B69-AC86-0734763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35221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49EE81-AB09-4B37-BC28-C09B3BB1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F111F7-5EDC-4EBE-B069-5CDB09F2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THE KEY INSIGHT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6D938DD-453A-4D11-859A-7DFC321C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The substrate — not the melt pool — drives prediction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3F1A556-FB9A-4CE4-9D7F-8669CED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3D0B0F-847C-48A5-BDEE-6958FEB7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5943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9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EXHIBIT 2 — RANDOM FOREST FEATURE IMPORTANCE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E9828A-55EB-45AC-9474-DB43C76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99" y="1939355"/>
            <a:ext cx="6629400" cy="39851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8C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61adad290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19" y="1985075"/>
            <a:ext cx="6537960" cy="3893689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057D434-9C25-4F99-B229-9B1C176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114800" cy="402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68F7F1-B516-4799-8853-3E073F0E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920240"/>
            <a:ext cx="41148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1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FB90E6-792A-46C6-B326-48A9A22D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2128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WHAT THE FOREST LEARNED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19E59E-3D47-4728-840F-B734F118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560320"/>
            <a:ext cx="35661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0"/>
              </a:spcAft>
              <a:buNone/>
            </a:pPr>
            <a:r>
              <a:rPr sz="165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SEM intensity is the single most dominant feature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45E9FD-9567-482D-878E-83862550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3566160"/>
            <a:ext cx="35661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1.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Substrate texture governs heat dissipation and liquid metal flow.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2.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Thermal history (rolling melt pool areas) ranks next — heat buildup matters.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sz="1250" b="1" i="0">
                <a:solidFill>
                  <a:srgbClr val="2251FF"/>
                </a:solidFill>
                <a:latin typeface="Arial"/>
                <a:ea typeface="Arial"/>
                <a:cs typeface="Arial"/>
              </a:rPr>
              <a:t>3.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Instantaneous melt pool size alone is the weakest signal.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C93802D-25A2-4F9C-A499-391FA4C8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AA2B95D-5BDE-487F-AE88-75F7469F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AC1755-F419-49E2-9877-A5A7169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05616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B5C32C-3DFB-41AB-BFD9-2BB920F8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CF5E28-1FE4-43D5-8241-18F6183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HONEST ASSESSMENT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91A8BA8-A40E-44B6-878E-732C3F72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Limitations &amp; uncertainty: physics pushes back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E3AEE5-D655-45CE-9982-8A1063DD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FC4F49-607C-4784-841F-14C1042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630936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Thermal warping:</a:t>
            </a:r>
            <a:r>
              <a:rPr sz="14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the metal substrate bows during printing, so a perfectly rigid 2D plane fit cannot capture all deformation.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Deep gouges</a:t>
            </a:r>
            <a:r>
              <a:rPr sz="14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 in the substrate produce some negative ground-truth heights (down to −40 µm) after leveling.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00" b="1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Model uncertainty </a:t>
            </a:r>
            <a:r>
              <a:rPr sz="14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grows in regions of extreme substrate deformation — exactly where the plane assumption weakens.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300"/>
              </a:spcAft>
              <a:buNone/>
            </a:pPr>
            <a:r>
              <a:rPr sz="1400" b="0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▪  </a:t>
            </a:r>
            <a:r>
              <a:rPr sz="14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R² = 0.41 reflects genuine stochasticity in DED, not just model error — a meaningful signal in a noisy physical process.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7D66947-D480-4D33-A6B7-47AD3CB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28800"/>
            <a:ext cx="4343400" cy="416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76B3AB-F1BA-4C3F-84C6-D971140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828800"/>
            <a:ext cx="434340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70DE262-26CA-4B34-9360-E7D5F2CB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121408"/>
            <a:ext cx="37490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0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IF WE HAD MORE TIME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CF8A358-DDCC-4FA4-B051-4BEC82F5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14600"/>
            <a:ext cx="379476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Replace the rigid plane with a flexible spline / polynomial surface to absorb warping.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Quantify prediction intervals per location (e.g., quantile forests).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Extend from height to full width &amp; boundary-position descriptors.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–  </a:t>
            </a:r>
            <a:r>
              <a:rPr sz="125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Validate across additional tracks and unseen laser recipes.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D2F6C8-978C-4394-8308-21FBBEE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4A3F53E-2F1F-4A48-ACAC-03A301B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0EA90E7-DCD6-4A4F-B88C-50604860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26171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F2F213-6D77-428D-AFA7-66A7A60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8E9953-D653-4EA2-960F-1CC9952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20040"/>
            <a:ext cx="41422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TAKEAWAYS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7B2254-3AF0-41E6-B493-E750BCF3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10241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51C2C"/>
                </a:solidFill>
                <a:latin typeface="Georgia"/>
                <a:ea typeface="Georgia"/>
                <a:cs typeface="Georgia"/>
              </a:rPr>
              <a:t>Thermal monitoring alone is not enough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2A4F66D-6519-49E1-A777-679481A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11094415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7C9B05-B073-4682-A64B-11AE64C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4214F2-9BFF-4033-9951-BE591D9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D4750D-6CE8-466B-B554-4C586FE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Fusion is the answer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A2AA94-7993-4789-B4D5-9B76596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Only by combining thermal history with substrate surface awareness can DED geometry be predicted reliably.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3B5CC3F-A5CF-4B7A-A23A-CFCAB6B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ED5774-EFC8-4C72-8F67-16BC8176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A16EF5-C3AC-4DAF-B81B-A8EE77D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Physics-grounded pipeline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FD025F-2AC2-45F4-B81D-A7B7A90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498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Automated 3D leveling + spatial–temporal alignment turned three incompatible sensors into one physical dataset.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B14212F-4FD9-420C-91A0-470DC53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86" y="1783080"/>
            <a:ext cx="9144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4942278-BAB7-4E4F-88FD-C959BCCE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1783080"/>
            <a:ext cx="8229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3400" b="0" i="0">
                <a:solidFill>
                  <a:srgbClr val="2251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9FF48E6-3D1A-45E5-AB99-F41C7830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487168"/>
            <a:ext cx="502920" cy="201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B4996ED-5ABA-43D9-A6C4-D460475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2633472"/>
            <a:ext cx="32409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1550" b="1" i="0">
                <a:solidFill>
                  <a:srgbClr val="051C2C"/>
                </a:solidFill>
                <a:latin typeface="Arial"/>
                <a:ea typeface="Arial"/>
                <a:cs typeface="Arial"/>
              </a:rPr>
              <a:t>Quantified &amp; validated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F5FC5C-E008-408B-8BD7-53B5ACD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636" y="3246120"/>
            <a:ext cx="3195218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0A0A0A"/>
                </a:solidFill>
                <a:latin typeface="Arial"/>
                <a:ea typeface="Arial"/>
                <a:cs typeface="Arial"/>
              </a:rPr>
              <a:t>MAE of 21.18 µm and R² of 0.41 against leveled profilometer ground truth, generalized over 4 laser recipes.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1EA3EAE-24AB-41A4-8C10-42899BF3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324" y="1783080"/>
            <a:ext cx="9144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F69CA9-78B9-425C-95FB-431FD76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94415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685D924-8D55-443B-9AB9-6CA8298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29200"/>
            <a:ext cx="10241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“The foundation a part is built on matters as much as the energy used to build it.”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0DFE6BD-0847-4043-B812-39DAC70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23560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00A9F4"/>
                </a:solidFill>
                <a:latin typeface="Arial"/>
                <a:ea typeface="Arial"/>
                <a:cs typeface="Arial"/>
              </a:rPr>
              <a:t>Thank you — Questions?</a:t>
            </a:r>
            <a:r>
              <a:rPr sz="1100" b="0" i="0">
                <a:solidFill>
                  <a:srgbClr val="9FB4C2"/>
                </a:solidFill>
                <a:latin typeface="Arial"/>
                <a:ea typeface="Arial"/>
                <a:cs typeface="Arial"/>
              </a:rPr>
              <a:t>    |    github.com/alphons3t/nsf-chuds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01466E0-5691-4CA9-BFBB-5E8280A1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19088"/>
            <a:ext cx="11094415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EF40976-30F6-4941-AC19-51BD3F3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sz="850" b="1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85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Team analysis of NSF FMRG multimodal DED dataset (Zenodo 10.5281/zenodo.21285367)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2C70779-A568-456A-A38D-133A56E8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510528"/>
            <a:ext cx="347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7575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42943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2026-07-27T21:41:02.1720000Z</dcterms:created>
  <dcterms:modified xsi:type="dcterms:W3CDTF">2026-07-27T21:41:02.1720000Z</dcterms:modified>
</coreProperties>
</file>